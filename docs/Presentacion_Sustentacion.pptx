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sistema de chat en tiempo real con WebSockets. Saludar, presentar el equipo y el objetivo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objetivo: chat en tiempo real con sockets. Recalcar los cuatro pilares: servidor centralizado, comunicación instantánea, seguridad y lista de conectados.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flujo numerado del diagrama: 1-3 login por REST devuelve JWT; 4-5 conexión WebSocket con token validado; 6 broadcast en tiempo real. Mencionar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stack. Enfatizar por qué FastAPI + Uvicorn: soporte nativo de WebSockets y asincronía. bcrypt y JWT para la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dos interfaces del servidor: REST para login/registro y WebSocket para el chat. El ConnectionManager es el que reenvía los mensajes 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interfaz. Señalar la lista de conectados a la izquierda y la conversación a la derecha. Mencionar el diseño responsivo.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protocolo de mensajes JSON. Cada tipo tiene un propósito. Recalcar el cifrado WSS en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al criterio de seguridad de la rúbrica. Enumerar las seis medidas implementadas.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todas las funcionalidades entregadas. Estas cubren los requisitos del cliente y del servidor de la consigna.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despliegue con el Blueprint de Render. Mencionar que la URL pública será el entregable de 'proyecto desplegado'.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agradeciendo. Ofrecer la demostración en vivo del chat con dos clientes y abrir el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8F7B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051560"/>
            <a:ext cx="1463040" cy="1463040"/>
          </a:xfrm>
          <a:prstGeom prst="roundRect">
            <a:avLst>
              <a:gd name="adj" fmla="val 21250"/>
            </a:avLst>
          </a:prstGeom>
          <a:solidFill>
            <a:srgbClr val="6C5CE7"/>
          </a:solidFill>
          <a:ln/>
          <a:effectLst>
            <a:outerShdw sx="100000" sy="100000" kx="0" ky="0" algn="bl" rotWithShape="0" blurRad="228600" dist="635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1508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8F7BFF"/>
                </a:solidFill>
              </a:rPr>
              <a:t>ChatRT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Chat en Tiempo Real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7E8"/>
                </a:solidFill>
              </a:rPr>
              <a:t>Comunicación entre múltiples usuarios mediante WebSockets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14800" y="5029200"/>
            <a:ext cx="3959352" cy="0"/>
          </a:xfrm>
          <a:prstGeom prst="line">
            <a:avLst/>
          </a:prstGeom>
          <a:noFill/>
          <a:ln w="12700">
            <a:solidFill>
              <a:srgbClr val="3A3D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52120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8E7F5"/>
                </a:solidFill>
              </a:rPr>
              <a:t>Aplicaciones Distribuidas · Segundo Parcial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BC0"/>
                </a:solidFill>
              </a:rPr>
              <a:t>Universidad de Guayaquil · Ingeniería de Software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02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1731"/>
            </a:avLst>
          </a:prstGeom>
          <a:solidFill>
            <a:srgbClr val="1E2138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82880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DEDFA"/>
                </a:solidFill>
              </a:rPr>
              <a:t>Diseñar y desarrollar un sistema de chat en tiempo real con tecnología de sockets, que permita a múltiples usuarios conectarse a un servidor centralizado y comunicarse de forma instantánea y segura.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30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7398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Servidor centralizado  </a:t>
            </a:r>
            <a:pPr indent="0" marL="0">
              <a:buNone/>
            </a:pPr>
            <a:r>
              <a:rPr lang="en-US" sz="1300" dirty="0">
                <a:solidFill>
                  <a:srgbClr val="B9BAD9"/>
                </a:solidFill>
              </a:rPr>
              <a:t>Maneja múltiples conexiones simultáneas.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799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3068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Comunicación instantánea  </a:t>
            </a:r>
            <a:pPr indent="0" marL="0">
              <a:buNone/>
            </a:pPr>
            <a:r>
              <a:rPr lang="en-US" sz="1300" dirty="0">
                <a:solidFill>
                  <a:srgbClr val="B9BAD9"/>
                </a:solidFill>
              </a:rPr>
              <a:t>Mensajes en tiempo real, sin recargar.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4690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873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Autenticación y seguridad  </a:t>
            </a:r>
            <a:pPr indent="0" marL="0">
              <a:buNone/>
            </a:pPr>
            <a:r>
              <a:rPr lang="en-US" sz="1300" dirty="0">
                <a:solidFill>
                  <a:srgbClr val="B9BAD9"/>
                </a:solidFill>
              </a:rPr>
              <a:t>Usuarios registrados y datos protegidos.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13832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5440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Usuarios en línea  </a:t>
            </a:r>
            <a:pPr indent="0" marL="0">
              <a:buNone/>
            </a:pPr>
            <a:r>
              <a:rPr lang="en-US" sz="1300" dirty="0">
                <a:solidFill>
                  <a:srgbClr val="B9BAD9"/>
                </a:solidFill>
              </a:rPr>
              <a:t>Lista de conectados actualizada al instante.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7635240" y="14630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7863840" y="162763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5CE7"/>
                </a:solidFill>
              </a:rPr>
              <a:t>10</a:t>
            </a:r>
            <a:endParaRPr lang="en-US" sz="4000" dirty="0"/>
          </a:p>
        </p:txBody>
      </p:sp>
      <p:sp>
        <p:nvSpPr>
          <p:cNvPr id="18" name="Text 11"/>
          <p:cNvSpPr/>
          <p:nvPr/>
        </p:nvSpPr>
        <p:spPr>
          <a:xfrm>
            <a:off x="7882128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9"/>
                </a:solidFill>
              </a:rPr>
              <a:t>conexiones+ simultáneas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635240" y="3035808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8638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5CE7"/>
                </a:solidFill>
              </a:rPr>
              <a:t>&lt; 1s</a:t>
            </a:r>
            <a:endParaRPr lang="en-US" sz="4000" dirty="0"/>
          </a:p>
        </p:txBody>
      </p:sp>
      <p:sp>
        <p:nvSpPr>
          <p:cNvPr id="21" name="Text 14"/>
          <p:cNvSpPr/>
          <p:nvPr/>
        </p:nvSpPr>
        <p:spPr>
          <a:xfrm>
            <a:off x="7882128" y="3950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9"/>
                </a:solidFill>
              </a:rPr>
              <a:t>latencia de entrega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635240" y="4608576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863840" y="47731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5CE7"/>
                </a:solidFill>
              </a:rPr>
              <a:t>JWT</a:t>
            </a:r>
            <a:endParaRPr lang="en-US" sz="4000" dirty="0"/>
          </a:p>
        </p:txBody>
      </p:sp>
      <p:sp>
        <p:nvSpPr>
          <p:cNvPr id="24" name="Text 17"/>
          <p:cNvSpPr/>
          <p:nvPr/>
        </p:nvSpPr>
        <p:spPr>
          <a:xfrm>
            <a:off x="7882128" y="55229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9"/>
                </a:solidFill>
              </a:rPr>
              <a:t>autenticación por token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6B7089"/>
                </a:solidFill>
              </a:rPr>
              <a:t>Arquitectura cliente–servidor centralizada. La autenticación viaja por HTTP/REST y el chat por una conexión WebSocket persistente y bidireccional.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1091672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ar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2286000"/>
            <a:ext cx="1036015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04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21543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1965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Python 3.12 + FastAPI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54480" y="2313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Servidor asíncrono: REST y WebSocket.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55664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1543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05472" y="181965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Uvicorn (ASGI)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05472" y="2313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Servidor de alto rendimiento con WebSockets.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17296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3584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372709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3924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SQLAlchemy + SQLite/PostgreSQL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54480" y="38862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ORM y persistencia de usuarios y mensajes.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17296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55664" y="3584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10" y="372709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5472" y="33924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HTML5 · CSS3 · JavaScript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05472" y="38862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Cliente web ligero (vanilla, sin frameworks).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474573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1572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529986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496519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bcrypt + PyJWT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554480" y="5458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Hash de contraseñas y tokens de sesión.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199632" y="474573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55664" y="51572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5299862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05472" y="496519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WebSocket API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05472" y="5458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Canal bidireccional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del servidor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6537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008022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28216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53C"/>
                </a:solidFill>
              </a:rPr>
              <a:t>API REST de autenticación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00200" y="214884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89"/>
                </a:solidFill>
              </a:rPr>
              <a:t>Rutas /api/register y /api/login validan datos con Pydantic y devuelven un token JWT.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78892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305409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19674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916936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53C"/>
                </a:solidFill>
              </a:rPr>
              <a:t>Seguridad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600200" y="333756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89"/>
                </a:solidFill>
              </a:rPr>
              <a:t>Contraseñas hasheadas con bcrypt; tokens JWT firmados y con expiración.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2428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8546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105656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53C"/>
                </a:solidFill>
              </a:rPr>
              <a:t>Endpoint WebSocket /ws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600200" y="45262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89"/>
                </a:solidFill>
              </a:rPr>
              <a:t>Valida el token en el handshake, registra la conexión y entra en el bucle de mensajes.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54315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574182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294376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53C"/>
                </a:solidFill>
              </a:rPr>
              <a:t>ConnectionManager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1600200" y="571500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89"/>
                </a:solidFill>
              </a:rPr>
              <a:t>Mantiene las conexiones activas y hace broadcast de cada mensaje a todos los clientes.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del cliente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704088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shot_ch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1673352"/>
            <a:ext cx="6711696" cy="4297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508760"/>
            <a:ext cx="3822192" cy="4709160"/>
          </a:xfrm>
          <a:prstGeom prst="roundRect">
            <a:avLst>
              <a:gd name="adj" fmla="val 2153"/>
            </a:avLst>
          </a:prstGeom>
          <a:solidFill>
            <a:srgbClr val="1E2138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092440" y="1783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3F6"/>
                </a:solidFill>
              </a:rPr>
              <a:t>El cliente (chat.js) abre la conexión WebSocket con el token y reacciona a cada evento del servidor.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92440" y="288036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CFEA"/>
                </a:solidFill>
              </a:rPr>
              <a:t>Interfaz web sencilla en JavaScript puro.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CFEA"/>
                </a:solidFill>
              </a:rPr>
              <a:t>Lista de usuarios conectados en tiempo real.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CFEA"/>
                </a:solidFill>
              </a:rPr>
              <a:t>Mensajes propios y ajenos diferenciados, con hora.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CFEA"/>
                </a:solidFill>
              </a:rPr>
              <a:t>Aviso de “escribiendo…” y reconexión automática.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CFEA"/>
                </a:solidFill>
              </a:rPr>
              <a:t>Diseño responsivo: funciona en móvil y escritorio.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mediante sockets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89"/>
                </a:solidFill>
              </a:rPr>
              <a:t>Los mensajes viajan como objetos JSON con un campo “type” que identifica cada evento. Protocolo simple, explícito y fácil de extender.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4223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(type)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⇄ Servidor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de chat: usuario, texto y hora.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→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Últimos mensajes al conectarse.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→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usuarios conectados.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→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Avisos de entrada y salida de usuarios.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⇄ Servidor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de “escribiendo…”.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  </a:t>
            </a:r>
            <a:pPr indent="0" marL="0">
              <a:buNone/>
            </a:pPr>
            <a:r>
              <a:rPr lang="en-US" sz="1400" i="1" dirty="0">
                <a:solidFill>
                  <a:srgbClr val="6B7089"/>
                </a:solidFill>
              </a:rPr>
              <a:t>En producción, HTTPS/WSS cifran toda la comunicación entre el navegador y el servidor.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 integridad de datos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08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5681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24" y="2127992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7249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Contraseñas hasheadas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1248" y="3090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bcrypt con sal aleatoria; nunca en texto plano.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15968" y="164592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08576" y="195681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752" y="212799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27249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Autenticación por token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08576" y="3090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JWT firmado y con expiración, exigido en REST y WebSocket.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83296" y="164592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195681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080" y="2127992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27249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Validación de entrada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375904" y="3090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Pydantic verifica usuario, correo y contraseña.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877056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41248" y="41879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24" y="4359128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Prevención de XSS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841248" y="5321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El cliente escapa el contenido antes de mostrarlo.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15968" y="3877056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08576" y="41879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752" y="4359128"/>
            <a:ext cx="316017" cy="3160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08576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Control anti-spam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4608576" y="5321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Límite de mensajes por intervalo y de longitud.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083296" y="3877056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75904" y="41879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C5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080" y="4359128"/>
            <a:ext cx="316017" cy="31601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75904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53C"/>
                </a:solidFill>
              </a:rPr>
              <a:t>Cifrado en tránsito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8375904" y="5321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HTTPS / WSS en el despliegue de producción.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09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21543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1965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Registro e inicio de sesión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54480" y="2313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Cuentas con usuario, correo y contraseña.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55664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1543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05472" y="181965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Mensajería en tiempo real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05472" y="2313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Envío y recepción instantáneos para todos.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17296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3584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372709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3924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Usuarios conectados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54480" y="38862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Lista y contador que se actualizan solos.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17296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55664" y="3584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10" y="372709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5472" y="33924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Historial de mensajes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05472" y="38862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Los últimos mensajes se muestran al entrar.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474573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1572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529986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496519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Indicador de escritura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554480" y="5458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Aviso de “… está escribiendo”.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199632" y="474573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55664" y="515721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5299862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05472" y="496519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Diseño responsivo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05472" y="5458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9"/>
                </a:solidFill>
              </a:rPr>
              <a:t>Adaptado a computadora y teléfono móvil.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despliegue en Render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064240" y="457200"/>
            <a:ext cx="576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7BFF"/>
                </a:solidFill>
              </a:rPr>
              <a:t>10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89"/>
                </a:solidFill>
              </a:rPr>
              <a:t>El archivo render.yaml (Blueprint) automatiza la creación del servicio web y la base de datos PostgreSQL.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13332" y="2377440"/>
            <a:ext cx="768096" cy="76809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513332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Subir a GitHub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84048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Publicar el repositorio con todo el código fuente.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27832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BFF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92424" y="205740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57116" y="2377440"/>
            <a:ext cx="768096" cy="76809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357116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75304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Blueprint en Render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93592" y="384048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New → Blueprint: Render lee render.yaml automáticamente.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71616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BFF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236208" y="205740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00900" y="2377440"/>
            <a:ext cx="768096" cy="76809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200900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419088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Variables y BD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37376" y="384048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SECRET_KEY se genera sola; se enlaza la base de datos.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915400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BFF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079992" y="205740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5F4FD"/>
          </a:solidFill>
          <a:ln w="12700">
            <a:solidFill>
              <a:srgbClr val="E7E5F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044684" y="2377440"/>
            <a:ext cx="768096" cy="76809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044684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262872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53C"/>
                </a:solidFill>
              </a:rPr>
              <a:t>URL pública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281160" y="384048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089"/>
                </a:solidFill>
              </a:rPr>
              <a:t>El sistema queda en línea con HTTPS/WSS activados.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solidFill>
            <a:srgbClr val="F5F4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53C"/>
                </a:solidFill>
              </a:rPr>
              <a:t>Arranque:  </a:t>
            </a:r>
            <a:pPr algn="ctr" indent="0" marL="0">
              <a:buNone/>
            </a:pPr>
            <a:r>
              <a:rPr lang="en-US" sz="1300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--host 0.0.0.0 --port $PORT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6C5CE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8F7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1264" y="1371600"/>
            <a:ext cx="1097280" cy="1097280"/>
          </a:xfrm>
          <a:prstGeom prst="roundRect">
            <a:avLst>
              <a:gd name="adj" fmla="val 21667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7007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¡Gracias!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7E8"/>
                </a:solidFill>
              </a:rPr>
              <a:t>Sistema de Chat en Tiempo Real · ChatRT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BC0"/>
                </a:solidFill>
              </a:rPr>
              <a:t>¿Preguntas?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0" y="4937760"/>
            <a:ext cx="3959352" cy="0"/>
          </a:xfrm>
          <a:prstGeom prst="line">
            <a:avLst/>
          </a:prstGeom>
          <a:noFill/>
          <a:ln w="12700">
            <a:solidFill>
              <a:srgbClr val="3A3D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788AE"/>
                </a:solidFill>
              </a:rPr>
              <a:t>Aplicaciones Distribuidas · Universidad de Guayaquil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en Tiempo Real - Sustentación</dc:title>
  <dc:subject>PptxGenJS Presentation</dc:subject>
  <dc:creator>Universidad de Guayaquil</dc:creator>
  <cp:lastModifiedBy>Universidad de Guayaquil</cp:lastModifiedBy>
  <cp:revision>1</cp:revision>
  <dcterms:created xsi:type="dcterms:W3CDTF">2026-07-03T02:48:09Z</dcterms:created>
  <dcterms:modified xsi:type="dcterms:W3CDTF">2026-07-03T02:48:09Z</dcterms:modified>
</cp:coreProperties>
</file>